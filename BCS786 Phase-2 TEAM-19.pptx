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62" r:id="rId9"/>
    <p:sldId id="263" r:id="rId10"/>
    <p:sldId id="264" r:id="rId11"/>
    <p:sldId id="276" r:id="rId12"/>
    <p:sldId id="265" r:id="rId13"/>
    <p:sldId id="278" r:id="rId14"/>
    <p:sldId id="266" r:id="rId15"/>
    <p:sldId id="279" r:id="rId16"/>
    <p:sldId id="280" r:id="rId17"/>
    <p:sldId id="281" r:id="rId18"/>
    <p:sldId id="267" r:id="rId19"/>
    <p:sldId id="268" r:id="rId20"/>
    <p:sldId id="274" r:id="rId21"/>
    <p:sldId id="269" r:id="rId22"/>
    <p:sldId id="270" r:id="rId23"/>
    <p:sldId id="271" r:id="rId24"/>
    <p:sldId id="272" r:id="rId25"/>
  </p:sldIdLst>
  <p:sldSz cx="12192000" cy="6858000"/>
  <p:notesSz cx="6797675" cy="9874250"/>
  <p:embeddedFontLst>
    <p:embeddedFont>
      <p:font typeface="Tahoma" panose="020B0604030504040204" pitchFamily="34" charset="0"/>
      <p:regular r:id="rId27"/>
      <p:bold r:id="rId28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74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FD5E8F-2548-4749-8CD4-B6472EAEAAEE}">
  <a:tblStyle styleId="{57FD5E8F-2548-4749-8CD4-B6472EAEAAEE}" styleName="Table_0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2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356" y="52"/>
      </p:cViewPr>
      <p:guideLst>
        <p:guide orient="horz" pos="217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 bwMode="auto"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 bwMode="auto">
          <a:xfrm>
            <a:off x="679450" y="4751388"/>
            <a:ext cx="5438774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 bwMode="auto">
          <a:xfrm>
            <a:off x="0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 bwMode="auto">
          <a:xfrm>
            <a:off x="3849688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79450" y="4751388"/>
            <a:ext cx="5438774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49688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1:notes"/>
          <p:cNvSpPr txBox="1">
            <a:spLocks noGrp="1"/>
          </p:cNvSpPr>
          <p:nvPr>
            <p:ph type="hdr" idx="3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 bwMode="auto">
          <a:xfrm>
            <a:off x="679450" y="4751388"/>
            <a:ext cx="5438774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36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9F223-6E8D-8B33-E186-C8969B26FC6A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 bwMode="auto">
          <a:xfrm>
            <a:off x="679450" y="4751388"/>
            <a:ext cx="5438774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2" name="Google Shape;112;p3:notes"/>
          <p:cNvSpPr txBox="1">
            <a:spLocks noGrp="1"/>
          </p:cNvSpPr>
          <p:nvPr>
            <p:ph type="sldNum" idx="12"/>
          </p:nvPr>
        </p:nvSpPr>
        <p:spPr bwMode="auto">
          <a:xfrm>
            <a:off x="3849688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4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3:notes"/>
          <p:cNvSpPr txBox="1">
            <a:spLocks noGrp="1"/>
          </p:cNvSpPr>
          <p:nvPr>
            <p:ph type="hdr" idx="3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 bwMode="auto">
          <a:xfrm>
            <a:off x="679450" y="4751388"/>
            <a:ext cx="5438774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 bwMode="auto">
          <a:xfrm>
            <a:off x="3849688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4:notes"/>
          <p:cNvSpPr txBox="1">
            <a:spLocks noGrp="1"/>
          </p:cNvSpPr>
          <p:nvPr>
            <p:ph type="hdr" idx="3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 bwMode="auto">
          <a:xfrm>
            <a:off x="679450" y="4751388"/>
            <a:ext cx="5438774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8" name="Google Shape;148;p6:notes"/>
          <p:cNvSpPr txBox="1">
            <a:spLocks noGrp="1"/>
          </p:cNvSpPr>
          <p:nvPr>
            <p:ph type="sldNum" idx="12"/>
          </p:nvPr>
        </p:nvSpPr>
        <p:spPr bwMode="auto">
          <a:xfrm>
            <a:off x="3849688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" name="Google Shape;149;p6:notes"/>
          <p:cNvSpPr txBox="1">
            <a:spLocks noGrp="1"/>
          </p:cNvSpPr>
          <p:nvPr>
            <p:ph type="hdr" idx="3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" name="Google Shape;159;g3dee0df84e2_0_8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ee0df84e2_0_8:notes"/>
          <p:cNvSpPr txBox="1">
            <a:spLocks noGrp="1"/>
          </p:cNvSpPr>
          <p:nvPr>
            <p:ph type="body" idx="1"/>
          </p:nvPr>
        </p:nvSpPr>
        <p:spPr bwMode="auto">
          <a:xfrm>
            <a:off x="679450" y="4751388"/>
            <a:ext cx="5438700" cy="388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36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1" name="Google Shape;161;g3dee0df84e2_0_8:notes"/>
          <p:cNvSpPr txBox="1">
            <a:spLocks noGrp="1"/>
          </p:cNvSpPr>
          <p:nvPr>
            <p:ph type="sldNum" idx="12"/>
          </p:nvPr>
        </p:nvSpPr>
        <p:spPr bwMode="auto">
          <a:xfrm>
            <a:off x="3849688" y="9378950"/>
            <a:ext cx="2946300" cy="495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" name="Google Shape;170;g3dee0df84e2_0_32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ee0df84e2_0_32:notes"/>
          <p:cNvSpPr txBox="1">
            <a:spLocks noGrp="1"/>
          </p:cNvSpPr>
          <p:nvPr>
            <p:ph type="body" idx="1"/>
          </p:nvPr>
        </p:nvSpPr>
        <p:spPr bwMode="auto">
          <a:xfrm>
            <a:off x="679450" y="4751388"/>
            <a:ext cx="5438700" cy="388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36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2" name="Google Shape;172;g3dee0df84e2_0_32:notes"/>
          <p:cNvSpPr txBox="1">
            <a:spLocks noGrp="1"/>
          </p:cNvSpPr>
          <p:nvPr>
            <p:ph type="sldNum" idx="12"/>
          </p:nvPr>
        </p:nvSpPr>
        <p:spPr bwMode="auto">
          <a:xfrm>
            <a:off x="3849688" y="9378950"/>
            <a:ext cx="2946300" cy="495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" name="Google Shape;181;g3dee0df84e2_0_18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ee0df84e2_0_18:notes"/>
          <p:cNvSpPr txBox="1">
            <a:spLocks noGrp="1"/>
          </p:cNvSpPr>
          <p:nvPr>
            <p:ph type="body" idx="1"/>
          </p:nvPr>
        </p:nvSpPr>
        <p:spPr bwMode="auto">
          <a:xfrm>
            <a:off x="679450" y="4751388"/>
            <a:ext cx="5438700" cy="388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36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3" name="Google Shape;183;g3dee0df84e2_0_18:notes"/>
          <p:cNvSpPr txBox="1">
            <a:spLocks noGrp="1"/>
          </p:cNvSpPr>
          <p:nvPr>
            <p:ph type="sldNum" idx="12"/>
          </p:nvPr>
        </p:nvSpPr>
        <p:spPr bwMode="auto">
          <a:xfrm>
            <a:off x="3849688" y="9378950"/>
            <a:ext cx="2946300" cy="495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" name="Google Shape;204;g3decbf9a5ba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ecbf9a5ba_0_0:notes"/>
          <p:cNvSpPr txBox="1">
            <a:spLocks noGrp="1"/>
          </p:cNvSpPr>
          <p:nvPr>
            <p:ph type="body" idx="1"/>
          </p:nvPr>
        </p:nvSpPr>
        <p:spPr bwMode="auto">
          <a:xfrm>
            <a:off x="679450" y="4751388"/>
            <a:ext cx="5438700" cy="388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36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6" name="Google Shape;206;g3decbf9a5ba_0_0:notes"/>
          <p:cNvSpPr txBox="1">
            <a:spLocks noGrp="1"/>
          </p:cNvSpPr>
          <p:nvPr>
            <p:ph type="sldNum" idx="12"/>
          </p:nvPr>
        </p:nvSpPr>
        <p:spPr bwMode="auto">
          <a:xfrm>
            <a:off x="3849688" y="9378950"/>
            <a:ext cx="2946300" cy="495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294174-E9FF-8E37-FAAB-A22CC3439650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822CE5-7AF3-4371-7650-3FDFE5F98D8F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453029-9FDE-6C62-D824-38E697F7674B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 bwMode="auto"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BBBCD2-8E9A-1AC5-A2A6-DB6CE3295B17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827031-C2A9-A460-4ADC-42B8EA3E4576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>
            <a:spLocks noGrp="1"/>
          </p:cNvSpPr>
          <p:nvPr>
            <p:ph type="body" idx="1"/>
          </p:nvPr>
        </p:nvSpPr>
        <p:spPr bwMode="auto">
          <a:xfrm>
            <a:off x="679450" y="4751388"/>
            <a:ext cx="5438774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36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6" name="Google Shape;216;p7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Slide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Content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Header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wo Content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omparison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Only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ontent with Caption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Picture with Caption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Vertical Text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Vertical Title and Text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1336261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hyperlink" Target="https://physionet.org/content/chbmit/1.0.0/?utm_source=chatgpt.com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 bwMode="auto">
          <a:xfrm>
            <a:off x="1920240" y="2104578"/>
            <a:ext cx="8503800" cy="36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  <a:defRPr/>
            </a:pPr>
            <a:r>
              <a:rPr lang="en-US" sz="2300" b="1">
                <a:latin typeface="Tahoma"/>
                <a:ea typeface="Tahoma"/>
                <a:cs typeface="Tahoma"/>
              </a:rPr>
              <a:t>BCS</a:t>
            </a:r>
            <a:r>
              <a:rPr lang="en-IN" sz="2300" b="1">
                <a:latin typeface="Tahoma"/>
                <a:ea typeface="Tahoma"/>
                <a:cs typeface="Tahoma"/>
              </a:rPr>
              <a:t>786</a:t>
            </a:r>
            <a:r>
              <a:rPr lang="en-US" sz="2300" b="1">
                <a:latin typeface="Tahoma"/>
                <a:ea typeface="Tahoma"/>
                <a:cs typeface="Tahoma"/>
              </a:rPr>
              <a:t> - Phase </a:t>
            </a:r>
            <a:r>
              <a:rPr lang="en-IN" sz="2300" b="1">
                <a:latin typeface="Tahoma"/>
                <a:ea typeface="Tahoma"/>
                <a:cs typeface="Tahoma"/>
              </a:rPr>
              <a:t>I</a:t>
            </a:r>
            <a:r>
              <a:rPr lang="en-US" sz="2300" b="1">
                <a:latin typeface="Tahoma"/>
                <a:ea typeface="Tahoma"/>
                <a:cs typeface="Tahoma"/>
              </a:rPr>
              <a:t>I - Project Review</a:t>
            </a:r>
            <a:r>
              <a:rPr lang="en-IN" sz="2300" b="1">
                <a:latin typeface="Tahoma"/>
                <a:ea typeface="Tahoma"/>
                <a:cs typeface="Tahoma"/>
              </a:rPr>
              <a:t> 2</a:t>
            </a:r>
          </a:p>
        </p:txBody>
      </p:sp>
      <p:sp>
        <p:nvSpPr>
          <p:cNvPr id="91" name="Google Shape;91;p1"/>
          <p:cNvSpPr txBox="1"/>
          <p:nvPr/>
        </p:nvSpPr>
        <p:spPr bwMode="auto">
          <a:xfrm>
            <a:off x="888975" y="2859565"/>
            <a:ext cx="10251030" cy="823279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Project Title: </a:t>
            </a:r>
            <a:r>
              <a:rPr lang="en-IN" sz="2400" b="1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Explainable CNN–BiLSTM Based EEG Signal </a:t>
            </a:r>
            <a:endParaRPr sz="2400"/>
          </a:p>
          <a:p>
            <a:pPr>
              <a:defRPr/>
            </a:pPr>
            <a:r>
              <a:rPr lang="en-IN" sz="2400" b="1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            Analysis System for Epileptic Seizure Detection</a:t>
            </a:r>
            <a:endParaRPr sz="2400" b="1" i="1">
              <a:latin typeface="Times New Roman"/>
              <a:cs typeface="Times New Roman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Department of CSE</a:t>
            </a:r>
          </a:p>
        </p:txBody>
      </p:sp>
      <p:sp>
        <p:nvSpPr>
          <p:cNvPr id="94" name="Google Shape;94;p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  <p:sp>
        <p:nvSpPr>
          <p:cNvPr id="95" name="Google Shape;95;p1"/>
          <p:cNvSpPr txBox="1"/>
          <p:nvPr/>
        </p:nvSpPr>
        <p:spPr bwMode="auto">
          <a:xfrm>
            <a:off x="6912389" y="4292780"/>
            <a:ext cx="4354650" cy="100615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Team Members:</a:t>
            </a:r>
          </a:p>
          <a:p>
            <a:pPr marL="354330" marR="0" lvl="0" indent="-35433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  <a:defRPr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DIVYASHREE C (1GD23CS030)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2. JANANI B M (1GD23CS040)</a:t>
            </a:r>
          </a:p>
        </p:txBody>
      </p:sp>
      <p:sp>
        <p:nvSpPr>
          <p:cNvPr id="96" name="Google Shape;96;p1"/>
          <p:cNvSpPr txBox="1"/>
          <p:nvPr/>
        </p:nvSpPr>
        <p:spPr bwMode="auto">
          <a:xfrm>
            <a:off x="838200" y="162025"/>
            <a:ext cx="10060799" cy="11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  <a:defRPr/>
            </a:pPr>
            <a:r>
              <a:rPr lang="en-US" sz="3200" b="1" u="none">
                <a:solidFill>
                  <a:schemeClr val="dk1"/>
                </a:solidFill>
                <a:latin typeface="Tahoma"/>
                <a:ea typeface="Tahoma"/>
                <a:cs typeface="Tahoma"/>
              </a:rPr>
              <a:t>Gopalan College of Engineering &amp; Management</a:t>
            </a:r>
          </a:p>
          <a:p>
            <a:pPr marL="12700" marR="508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ahoma"/>
              <a:buNone/>
              <a:defRPr/>
            </a:pPr>
            <a:r>
              <a:rPr lang="en-US" sz="2400" b="1" u="none">
                <a:solidFill>
                  <a:srgbClr val="C00000"/>
                </a:solidFill>
                <a:latin typeface="Tahoma"/>
                <a:ea typeface="Tahoma"/>
                <a:cs typeface="Tahoma"/>
              </a:rPr>
              <a:t>Department of Computer Science</a:t>
            </a:r>
            <a:endParaRPr sz="1600" b="1" u="none">
              <a:solidFill>
                <a:srgbClr val="C00000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97" name="Google Shape;97;p1" descr="E:\IMG-20241204-WA0034.jpg"/>
          <p:cNvPicPr/>
          <p:nvPr/>
        </p:nvPicPr>
        <p:blipFill>
          <a:blip r:embed="rId3"/>
          <a:stretch/>
        </p:blipFill>
        <p:spPr bwMode="auto">
          <a:xfrm>
            <a:off x="46925" y="0"/>
            <a:ext cx="1031975" cy="1038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/>
          <p:nvPr/>
        </p:nvPicPr>
        <p:blipFill>
          <a:blip r:embed="rId4"/>
          <a:stretch/>
        </p:blipFill>
        <p:spPr bwMode="auto">
          <a:xfrm>
            <a:off x="10960950" y="227325"/>
            <a:ext cx="1031975" cy="138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862795" name="TextBox 313862794"/>
          <p:cNvSpPr txBox="1"/>
          <p:nvPr/>
        </p:nvSpPr>
        <p:spPr bwMode="auto">
          <a:xfrm>
            <a:off x="699107" y="4320267"/>
            <a:ext cx="3266434" cy="1615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IN" sz="2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Under the Guidance of:</a:t>
            </a:r>
            <a:endParaRPr sz="2000"/>
          </a:p>
          <a:p>
            <a:pPr algn="ctr">
              <a:defRPr/>
            </a:pPr>
            <a:r>
              <a:rPr lang="en-US" sz="2000" b="1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Dr. Swathi Y,</a:t>
            </a:r>
            <a:endParaRPr sz="2000"/>
          </a:p>
          <a:p>
            <a:pPr algn="ctr">
              <a:defRPr/>
            </a:pPr>
            <a:r>
              <a:rPr lang="en-US" sz="2000" b="1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Head, Department of CSE,</a:t>
            </a:r>
            <a:endParaRPr sz="2000"/>
          </a:p>
          <a:p>
            <a:pPr algn="ctr">
              <a:defRPr/>
            </a:pPr>
            <a:r>
              <a:rPr lang="en-US" sz="2000" b="1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GCEM, Bangalore.</a:t>
            </a:r>
            <a:endParaRPr sz="2000"/>
          </a:p>
          <a:p>
            <a:pPr>
              <a:defRPr/>
            </a:pP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Tahoma"/>
              <a:buNone/>
              <a:defRPr/>
            </a:pPr>
            <a:r>
              <a:rPr lang="en-US" sz="4000" b="1" dirty="0">
                <a:solidFill>
                  <a:srgbClr val="C00000"/>
                </a:solidFill>
                <a:latin typeface="Tahoma"/>
                <a:ea typeface="Tahoma"/>
                <a:cs typeface="Tahoma"/>
              </a:rPr>
              <a:t>Contents</a:t>
            </a:r>
            <a:endParaRPr sz="4000" b="1" dirty="0">
              <a:solidFill>
                <a:srgbClr val="C0000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body" idx="1"/>
          </p:nvPr>
        </p:nvSpPr>
        <p:spPr bwMode="auto">
          <a:xfrm>
            <a:off x="849630" y="1276985"/>
            <a:ext cx="10515600" cy="522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 lnSpcReduction="10000"/>
          </a:bodyPr>
          <a:lstStyle/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and Training</a:t>
            </a: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Results/Demo</a:t>
            </a: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Comparison</a:t>
            </a: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to the Work</a:t>
            </a: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and Conclusion</a:t>
            </a: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Department of CSE</a:t>
            </a:r>
          </a:p>
        </p:txBody>
      </p:sp>
      <p:sp>
        <p:nvSpPr>
          <p:cNvPr id="107" name="Google Shape;107;p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  <p:pic>
        <p:nvPicPr>
          <p:cNvPr id="108" name="Google Shape;108;p2"/>
          <p:cNvPicPr/>
          <p:nvPr/>
        </p:nvPicPr>
        <p:blipFill>
          <a:blip r:embed="rId3"/>
          <a:stretch/>
        </p:blipFill>
        <p:spPr bwMode="auto">
          <a:xfrm>
            <a:off x="10505440" y="249555"/>
            <a:ext cx="1236980" cy="805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9302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IN" sz="4000" b="1" dirty="0">
                <a:solidFill>
                  <a:srgbClr val="C00000"/>
                </a:solidFill>
                <a:latin typeface="Tahoma"/>
                <a:ea typeface="Tahoma"/>
                <a:cs typeface="Tahoma"/>
              </a:rP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473700"/>
            <a:ext cx="10515600" cy="4703263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Epileptic seizures are abnormal electrical activities in the brain that can be observed through EEG signals.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EEG recordings contain complex temporal patterns that make manual seizure identification time-consuming.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can automatically learn discriminative features from EEG signals.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for feature extraction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Bi-LSTM for temporal sequence learning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incorporates 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Grad-CAM-based explainability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visualize signal features contributing to model predictions.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system is an 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academic research prototype and is not intended for clinical diagnostic decision-making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  <p:pic>
        <p:nvPicPr>
          <p:cNvPr id="5" name="Google Shape;156;p6">
            <a:extLst>
              <a:ext uri="{FF2B5EF4-FFF2-40B4-BE49-F238E27FC236}">
                <a16:creationId xmlns:a16="http://schemas.microsoft.com/office/drawing/2014/main" id="{1B59A74B-C7E2-0691-0A5B-AAAE23073891}"/>
              </a:ext>
            </a:extLst>
          </p:cNvPr>
          <p:cNvPicPr/>
          <p:nvPr/>
        </p:nvPicPr>
        <p:blipFill>
          <a:blip r:embed="rId3"/>
          <a:stretch/>
        </p:blipFill>
        <p:spPr bwMode="auto">
          <a:xfrm>
            <a:off x="11221625" y="186825"/>
            <a:ext cx="753674" cy="6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>
            <a:spLocks noGrp="1"/>
          </p:cNvSpPr>
          <p:nvPr>
            <p:ph type="ctrTitle"/>
          </p:nvPr>
        </p:nvSpPr>
        <p:spPr bwMode="auto">
          <a:xfrm>
            <a:off x="849630" y="221003"/>
            <a:ext cx="104076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Tahoma"/>
              <a:buNone/>
              <a:defRPr/>
            </a:pPr>
            <a:r>
              <a:rPr lang="en-US" sz="4400" b="1" dirty="0">
                <a:solidFill>
                  <a:srgbClr val="C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4000" b="1" dirty="0">
                <a:solidFill>
                  <a:srgbClr val="C00000"/>
                </a:solidFill>
                <a:latin typeface="Tahoma"/>
                <a:ea typeface="Tahoma"/>
                <a:cs typeface="Tahoma"/>
              </a:rPr>
              <a:t>Problem</a:t>
            </a:r>
            <a:r>
              <a:rPr lang="en-US" sz="2900" b="1" dirty="0">
                <a:solidFill>
                  <a:srgbClr val="C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4000" b="1" dirty="0">
                <a:solidFill>
                  <a:srgbClr val="C00000"/>
                </a:solidFill>
                <a:latin typeface="Tahoma"/>
                <a:ea typeface="Tahoma"/>
                <a:cs typeface="Tahoma"/>
              </a:rPr>
              <a:t>Statement</a:t>
            </a:r>
            <a:endParaRPr sz="4000" b="1" dirty="0">
              <a:solidFill>
                <a:srgbClr val="C0000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Department of CSE</a:t>
            </a:r>
          </a:p>
        </p:txBody>
      </p:sp>
      <p:sp>
        <p:nvSpPr>
          <p:cNvPr id="118" name="Google Shape;118;p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  <p:sp>
        <p:nvSpPr>
          <p:cNvPr id="119" name="Google Shape;119;p3"/>
          <p:cNvSpPr txBox="1"/>
          <p:nvPr/>
        </p:nvSpPr>
        <p:spPr bwMode="auto">
          <a:xfrm>
            <a:off x="849630" y="1491342"/>
            <a:ext cx="10515600" cy="4299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of long-duration EEG recordings is time-consuming and requires expert interpretation.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EEG signals contain complex temporal patterns that are difficult to identify consistently.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approaches may require handcrafted feature extraction.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CNNs are effective at extracting local signal features but have limited ability to model temporal dependencies alone.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predictions can be difficult to interpret without an explainability mechanism.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 automated system is required that combines 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EEG feature extraction, temporal learning, seizure detection, and model interpretability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20" name="Google Shape;120;p3"/>
          <p:cNvPicPr/>
          <p:nvPr/>
        </p:nvPicPr>
        <p:blipFill>
          <a:blip r:embed="rId3"/>
          <a:stretch/>
        </p:blipFill>
        <p:spPr bwMode="auto">
          <a:xfrm>
            <a:off x="10850244" y="220980"/>
            <a:ext cx="942340" cy="1082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>
            <a:spLocks noGrp="1"/>
          </p:cNvSpPr>
          <p:nvPr>
            <p:ph type="ctrTitle"/>
          </p:nvPr>
        </p:nvSpPr>
        <p:spPr bwMode="auto">
          <a:xfrm>
            <a:off x="719000" y="403876"/>
            <a:ext cx="9746100" cy="6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  <a:defRPr/>
            </a:pPr>
            <a:r>
              <a:rPr lang="en-IN" sz="40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</a:t>
            </a:r>
          </a:p>
        </p:txBody>
      </p:sp>
      <p:sp>
        <p:nvSpPr>
          <p:cNvPr id="129" name="Google Shape;129;p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Department of CSE</a:t>
            </a:r>
          </a:p>
        </p:txBody>
      </p:sp>
      <p:sp>
        <p:nvSpPr>
          <p:cNvPr id="130" name="Google Shape;130;p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sp>
        <p:nvSpPr>
          <p:cNvPr id="131" name="Google Shape;131;p4"/>
          <p:cNvSpPr txBox="1"/>
          <p:nvPr/>
        </p:nvSpPr>
        <p:spPr bwMode="auto">
          <a:xfrm>
            <a:off x="849630" y="1447799"/>
            <a:ext cx="10515600" cy="449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automated EEG-based seizure detection system.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 multi-channel EEG recordings using a consistent signal-processing pipeline.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 EEG recordings into fixed-length windows.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CNN layers for EEG feature extraction.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Bi-LSTM layers to learn temporal dependencies.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seizure probabilities for individual EEG windows.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temporal seizure events from window-level predictions.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 Grad-CAM for model prediction visualization.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an interactive interface for EEG analysis and result visualization.</a:t>
            </a:r>
          </a:p>
        </p:txBody>
      </p:sp>
      <p:pic>
        <p:nvPicPr>
          <p:cNvPr id="132" name="Google Shape;132;p4"/>
          <p:cNvPicPr/>
          <p:nvPr/>
        </p:nvPicPr>
        <p:blipFill>
          <a:blip r:embed="rId3"/>
          <a:stretch/>
        </p:blipFill>
        <p:spPr bwMode="auto">
          <a:xfrm>
            <a:off x="10935970" y="220980"/>
            <a:ext cx="951864" cy="1056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>
            <a:spLocks noGrp="1"/>
          </p:cNvSpPr>
          <p:nvPr>
            <p:ph type="ctrTitle"/>
          </p:nvPr>
        </p:nvSpPr>
        <p:spPr bwMode="auto">
          <a:xfrm>
            <a:off x="486704" y="71419"/>
            <a:ext cx="9070954" cy="6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  <a:defRPr/>
            </a:pPr>
            <a:r>
              <a:rPr lang="en-US" sz="4000" b="1" dirty="0">
                <a:solidFill>
                  <a:srgbClr val="C00000"/>
                </a:solidFill>
                <a:latin typeface="Tahoma"/>
                <a:ea typeface="Tahoma"/>
                <a:cs typeface="Tahoma"/>
              </a:rPr>
              <a:t>Literature Survey</a:t>
            </a:r>
            <a:endParaRPr sz="4000" dirty="0">
              <a:solidFill>
                <a:srgbClr val="C0000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3" name="Google Shape;153;p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Department of CSE</a:t>
            </a:r>
          </a:p>
        </p:txBody>
      </p:sp>
      <p:sp>
        <p:nvSpPr>
          <p:cNvPr id="154" name="Google Shape;154;p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sp>
        <p:nvSpPr>
          <p:cNvPr id="155" name="Google Shape;155;p6"/>
          <p:cNvSpPr txBox="1"/>
          <p:nvPr/>
        </p:nvSpPr>
        <p:spPr bwMode="auto">
          <a:xfrm>
            <a:off x="849630" y="127698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56" name="Google Shape;156;p6"/>
          <p:cNvPicPr/>
          <p:nvPr/>
        </p:nvPicPr>
        <p:blipFill>
          <a:blip r:embed="rId3"/>
          <a:stretch/>
        </p:blipFill>
        <p:spPr bwMode="auto">
          <a:xfrm>
            <a:off x="11221625" y="186825"/>
            <a:ext cx="753674" cy="670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2550459"/>
              </p:ext>
            </p:extLst>
          </p:nvPr>
        </p:nvGraphicFramePr>
        <p:xfrm>
          <a:off x="486704" y="1367729"/>
          <a:ext cx="10734922" cy="4772170"/>
        </p:xfrm>
        <a:graphic>
          <a:graphicData uri="http://schemas.openxmlformats.org/drawingml/2006/table">
            <a:tbl>
              <a:tblPr>
                <a:tableStyleId>{57FD5E8F-2548-4749-8CD4-B6472EAEAAEE}</a:tableStyleId>
              </a:tblPr>
              <a:tblGrid>
                <a:gridCol w="491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9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7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88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10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155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40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Sl. No.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/ Year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Proposed Method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Dataset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Pros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Cons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0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Dhondiyal et al., 2025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GNN + CNN + LSTM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EEG Dataset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Accuracy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Captures Spatial + Temporal Features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Complex, No Explainability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0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K. Sharma et al., 2026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CNN–LSTM Real-Time Seizure Detection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EEG Dataset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Accuracy, Latency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Real-Time System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Computation</a:t>
                      </a:r>
                      <a:endParaRPr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04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A. Kumar et al., 2025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Hybrid CNN–LSTM</a:t>
                      </a:r>
                      <a:endParaRPr b="1" dirty="0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CHB-MIT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~98.5%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Spatial + Temporal Learning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Explainability</a:t>
                      </a:r>
                      <a:endParaRPr b="1" dirty="0"/>
                    </a:p>
                  </a:txBody>
                  <a:tcPr marL="91424" marR="91424" marT="91424" marB="914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34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Z. Li et al., 2025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1D CNN–LSTM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EEG Bands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Accuracy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Good Feature Extraction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Black-Box</a:t>
                      </a:r>
                      <a:endParaRPr b="1"/>
                    </a:p>
                  </a:txBody>
                  <a:tcPr marL="91424" marR="91424" marT="91424" marB="914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404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M. Rahman et al., 2026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CNN–LSTM Multimodal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Multimodal Dataset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Performance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Multi-Signal Learning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Complex</a:t>
                      </a:r>
                      <a:endParaRPr b="1"/>
                    </a:p>
                  </a:txBody>
                  <a:tcPr marL="91424" marR="91424" marT="91424" marB="914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81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 Patel et al., 2025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CNN–LSTM–GRU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EEG Dataset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Accuracy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Strong Sequence Modeling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Complexity</a:t>
                      </a:r>
                      <a:endParaRPr b="1"/>
                    </a:p>
                  </a:txBody>
                  <a:tcPr marL="91424" marR="91424" marT="91424" marB="914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34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Y. Zhang et al., 2026</a:t>
                      </a:r>
                      <a:endParaRPr b="1" dirty="0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CNN–BiLSTM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EEG Dataset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Accuracy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Bidirectional Learning</a:t>
                      </a:r>
                      <a:endParaRPr b="1"/>
                    </a:p>
                  </a:txBody>
                  <a:tcPr marL="91424" marR="91424" marT="91424" marB="91424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Black-Box</a:t>
                      </a:r>
                      <a:endParaRPr b="1" dirty="0"/>
                    </a:p>
                  </a:txBody>
                  <a:tcPr marL="91424" marR="91424" marT="91424" marB="9142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A770A26-D504-057B-878F-BA644CE3B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39108"/>
              </p:ext>
            </p:extLst>
          </p:nvPr>
        </p:nvGraphicFramePr>
        <p:xfrm>
          <a:off x="685800" y="1426029"/>
          <a:ext cx="10548256" cy="5027263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17294249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129066667"/>
                    </a:ext>
                  </a:extLst>
                </a:gridCol>
                <a:gridCol w="2466392">
                  <a:extLst>
                    <a:ext uri="{9D8B030D-6E8A-4147-A177-3AD203B41FA5}">
                      <a16:colId xmlns:a16="http://schemas.microsoft.com/office/drawing/2014/main" val="3966238639"/>
                    </a:ext>
                  </a:extLst>
                </a:gridCol>
                <a:gridCol w="1245637">
                  <a:extLst>
                    <a:ext uri="{9D8B030D-6E8A-4147-A177-3AD203B41FA5}">
                      <a16:colId xmlns:a16="http://schemas.microsoft.com/office/drawing/2014/main" val="3123250390"/>
                    </a:ext>
                  </a:extLst>
                </a:gridCol>
                <a:gridCol w="1415142">
                  <a:extLst>
                    <a:ext uri="{9D8B030D-6E8A-4147-A177-3AD203B41FA5}">
                      <a16:colId xmlns:a16="http://schemas.microsoft.com/office/drawing/2014/main" val="1766010655"/>
                    </a:ext>
                  </a:extLst>
                </a:gridCol>
                <a:gridCol w="1743269">
                  <a:extLst>
                    <a:ext uri="{9D8B030D-6E8A-4147-A177-3AD203B41FA5}">
                      <a16:colId xmlns:a16="http://schemas.microsoft.com/office/drawing/2014/main" val="3827175525"/>
                    </a:ext>
                  </a:extLst>
                </a:gridCol>
                <a:gridCol w="1468016">
                  <a:extLst>
                    <a:ext uri="{9D8B030D-6E8A-4147-A177-3AD203B41FA5}">
                      <a16:colId xmlns:a16="http://schemas.microsoft.com/office/drawing/2014/main" val="3903682103"/>
                    </a:ext>
                  </a:extLst>
                </a:gridCol>
              </a:tblGrid>
              <a:tr h="413657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Year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Method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517837"/>
                  </a:ext>
                </a:extLst>
              </a:tr>
              <a:tr h="639054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Patel et al., 2024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CNN–LSTM (SHAP)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EEG Dataset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+ XAI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Interpretability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 Computation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199473"/>
                  </a:ext>
                </a:extLst>
              </a:tr>
              <a:tr h="465599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J. Singh et al., 2026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Survey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Datasets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Covers All Models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Implementation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649675"/>
                  </a:ext>
                </a:extLst>
              </a:tr>
              <a:tr h="465599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H. Khan et al., 2024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vs DL Comparison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EEG Dataset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~97%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Study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 Complexity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475789"/>
                  </a:ext>
                </a:extLst>
              </a:tr>
              <a:tr h="639054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Einizade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2023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Attentive Deep Multi-View Network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TUH EEG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≈ 81%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Explainable, Cross-Subject Learning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Model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530646"/>
                  </a:ext>
                </a:extLst>
              </a:tr>
              <a:tr h="465599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Mir et al., 2023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DCAE + CNN + BiLSTM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CHB-MIT + Clinical Dataset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≈ 99.8%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Robust, High Accuracy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371903"/>
                  </a:ext>
                </a:extLst>
              </a:tr>
              <a:tr h="639054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Abdallah et al., 2023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1D CNN + LSTM + Self-Attention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CHB-MIT + UCI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≈ 97.9%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Cross-Subject, Attention-Based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Complexity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22373"/>
                  </a:ext>
                </a:extLst>
              </a:tr>
              <a:tr h="639054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Murugan &amp; Kameswaran, 2024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Explainable AI (SHAP)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EEG Datasets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Explainability, Feature Analysis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 Computation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611476"/>
                  </a:ext>
                </a:extLst>
              </a:tr>
              <a:tr h="639054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Kashefi Amiri et al., 2025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DWT + 1D CNN-LSTM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CHB-MIT, BONN, TUSZ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≈ 96.94%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 Feature Extraction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Preprocessing Complexity</a:t>
                      </a:r>
                    </a:p>
                  </a:txBody>
                  <a:tcPr marL="69436" marR="69436" marT="34718" marB="34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2881368"/>
                  </a:ext>
                </a:extLst>
              </a:tr>
            </a:tbl>
          </a:graphicData>
        </a:graphic>
      </p:graphicFrame>
      <p:pic>
        <p:nvPicPr>
          <p:cNvPr id="11" name="Google Shape;156;p6">
            <a:extLst>
              <a:ext uri="{FF2B5EF4-FFF2-40B4-BE49-F238E27FC236}">
                <a16:creationId xmlns:a16="http://schemas.microsoft.com/office/drawing/2014/main" id="{E816DC86-D80E-2AF2-2995-4B76254B2659}"/>
              </a:ext>
            </a:extLst>
          </p:cNvPr>
          <p:cNvPicPr/>
          <p:nvPr/>
        </p:nvPicPr>
        <p:blipFill>
          <a:blip r:embed="rId2"/>
          <a:stretch/>
        </p:blipFill>
        <p:spPr bwMode="auto">
          <a:xfrm>
            <a:off x="11221625" y="186825"/>
            <a:ext cx="753674" cy="6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981E3E-05F4-F2C6-44F5-B9317B24F381}"/>
              </a:ext>
            </a:extLst>
          </p:cNvPr>
          <p:cNvSpPr txBox="1"/>
          <p:nvPr/>
        </p:nvSpPr>
        <p:spPr>
          <a:xfrm>
            <a:off x="631371" y="413657"/>
            <a:ext cx="6302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Literature Survey</a:t>
            </a:r>
            <a:endParaRPr lang="en-US" sz="4000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370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" name="Google Shape;163;g3dee0df84e2_0_8"/>
          <p:cNvSpPr txBox="1">
            <a:spLocks noGrp="1"/>
          </p:cNvSpPr>
          <p:nvPr>
            <p:ph type="title"/>
          </p:nvPr>
        </p:nvSpPr>
        <p:spPr bwMode="auto">
          <a:xfrm>
            <a:off x="548875" y="293950"/>
            <a:ext cx="8698800" cy="67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  <a:defRPr/>
            </a:pPr>
            <a:r>
              <a:rPr lang="en-US" sz="4000" b="1" dirty="0">
                <a:solidFill>
                  <a:srgbClr val="C00000"/>
                </a:solidFill>
                <a:latin typeface="Tahoma"/>
                <a:ea typeface="Tahoma"/>
                <a:cs typeface="Tahoma"/>
              </a:rPr>
              <a:t>Proposed </a:t>
            </a:r>
            <a:r>
              <a:rPr lang="en-IN" sz="4000" b="1" dirty="0">
                <a:solidFill>
                  <a:srgbClr val="C00000"/>
                </a:solidFill>
                <a:latin typeface="Tahoma"/>
                <a:ea typeface="Tahoma"/>
                <a:cs typeface="Tahoma"/>
              </a:rPr>
              <a:t>Method</a:t>
            </a:r>
          </a:p>
        </p:txBody>
      </p:sp>
      <p:sp>
        <p:nvSpPr>
          <p:cNvPr id="164" name="Google Shape;164;g3dee0df84e2_0_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pic>
        <p:nvPicPr>
          <p:cNvPr id="165" name="Google Shape;165;g3dee0df84e2_0_8"/>
          <p:cNvPicPr/>
          <p:nvPr/>
        </p:nvPicPr>
        <p:blipFill>
          <a:blip r:embed="rId3"/>
          <a:stretch/>
        </p:blipFill>
        <p:spPr bwMode="auto">
          <a:xfrm>
            <a:off x="11031300" y="294000"/>
            <a:ext cx="753674" cy="6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dee0df84e2_0_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Department of CSE</a:t>
            </a:r>
          </a:p>
        </p:txBody>
      </p:sp>
      <p:sp>
        <p:nvSpPr>
          <p:cNvPr id="2" name="Text Box 0"/>
          <p:cNvSpPr txBox="1"/>
          <p:nvPr/>
        </p:nvSpPr>
        <p:spPr bwMode="auto">
          <a:xfrm>
            <a:off x="871838" y="1330152"/>
            <a:ext cx="10536299" cy="4660446"/>
          </a:xfrm>
          <a:prstGeom prst="rect">
            <a:avLst/>
          </a:prstGeom>
        </p:spPr>
        <p:txBody>
          <a:bodyPr>
            <a:noAutofit/>
          </a:bodyPr>
          <a:lstStyle/>
          <a:p>
            <a:pPr lvl="2"/>
            <a:endParaRPr lang="en-IN" sz="19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9B20EB-1559-B2DE-9C26-F31B81601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86" y="991215"/>
            <a:ext cx="11419114" cy="48755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" name="Google Shape;174;g3dee0df84e2_0_32"/>
          <p:cNvSpPr txBox="1">
            <a:spLocks noGrp="1"/>
          </p:cNvSpPr>
          <p:nvPr>
            <p:ph type="title"/>
          </p:nvPr>
        </p:nvSpPr>
        <p:spPr bwMode="auto">
          <a:xfrm>
            <a:off x="332175" y="364325"/>
            <a:ext cx="7125900" cy="364139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SzPts val="990"/>
              <a:buNone/>
              <a:defRPr/>
            </a:pPr>
            <a:r>
              <a:rPr lang="en-US" sz="40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 Architecture</a:t>
            </a:r>
          </a:p>
        </p:txBody>
      </p:sp>
      <p:sp>
        <p:nvSpPr>
          <p:cNvPr id="175" name="Google Shape;175;g3dee0df84e2_0_3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pic>
        <p:nvPicPr>
          <p:cNvPr id="176" name="Google Shape;176;g3dee0df84e2_0_32"/>
          <p:cNvPicPr/>
          <p:nvPr/>
        </p:nvPicPr>
        <p:blipFill>
          <a:blip r:embed="rId3"/>
          <a:stretch/>
        </p:blipFill>
        <p:spPr bwMode="auto">
          <a:xfrm>
            <a:off x="11031300" y="294000"/>
            <a:ext cx="753674" cy="6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dee0df84e2_0_3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Department of CSE</a:t>
            </a:r>
          </a:p>
        </p:txBody>
      </p:sp>
      <p:sp>
        <p:nvSpPr>
          <p:cNvPr id="2" name="Text Box 0"/>
          <p:cNvSpPr txBox="1"/>
          <p:nvPr/>
        </p:nvSpPr>
        <p:spPr bwMode="auto">
          <a:xfrm>
            <a:off x="838199" y="1666239"/>
            <a:ext cx="9098999" cy="335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sz="1600"/>
          </a:p>
        </p:txBody>
      </p:sp>
      <p:pic>
        <p:nvPicPr>
          <p:cNvPr id="1400606155" name="Content Placeholder 7"/>
          <p:cNvPicPr>
            <a:picLocks noGrp="1" noChangeAspect="1"/>
          </p:cNvPicPr>
          <p:nvPr/>
        </p:nvPicPr>
        <p:blipFill>
          <a:blip r:embed="rId4"/>
          <a:srcRect l="-212" t="1739" r="1"/>
          <a:stretch/>
        </p:blipFill>
        <p:spPr bwMode="auto">
          <a:xfrm>
            <a:off x="693682" y="1436913"/>
            <a:ext cx="10660117" cy="46835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" name="Google Shape;185;g3dee0df84e2_0_18"/>
          <p:cNvSpPr txBox="1">
            <a:spLocks noGrp="1"/>
          </p:cNvSpPr>
          <p:nvPr>
            <p:ph type="title"/>
          </p:nvPr>
        </p:nvSpPr>
        <p:spPr bwMode="auto">
          <a:xfrm>
            <a:off x="578650" y="293999"/>
            <a:ext cx="9740400" cy="670399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  <a:defRPr/>
            </a:pPr>
            <a:r>
              <a:rPr lang="en-IN" sz="40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Experimental Setup</a:t>
            </a:r>
          </a:p>
        </p:txBody>
      </p:sp>
      <p:sp>
        <p:nvSpPr>
          <p:cNvPr id="186" name="Google Shape;186;g3dee0df84e2_0_1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pic>
        <p:nvPicPr>
          <p:cNvPr id="187" name="Google Shape;187;g3dee0df84e2_0_18"/>
          <p:cNvPicPr/>
          <p:nvPr/>
        </p:nvPicPr>
        <p:blipFill>
          <a:blip r:embed="rId3"/>
          <a:stretch/>
        </p:blipFill>
        <p:spPr bwMode="auto">
          <a:xfrm>
            <a:off x="11031300" y="294000"/>
            <a:ext cx="753674" cy="6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dee0df84e2_0_1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Department of CSE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3E9A00-C047-1346-557C-145FF5297D8C}"/>
              </a:ext>
            </a:extLst>
          </p:cNvPr>
          <p:cNvSpPr txBox="1"/>
          <p:nvPr/>
        </p:nvSpPr>
        <p:spPr>
          <a:xfrm>
            <a:off x="816429" y="1436914"/>
            <a:ext cx="10214871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 CHB-MIT Scalp EEG Database – PhysioNet</a:t>
            </a:r>
            <a:endParaRPr lang="en-IN" sz="22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24 patients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683 EDF recordings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652 usable canonical 23-channel recordings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141 seizure recordings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542 non-seizure recordings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Sampling frequency: 256 Hz</a:t>
            </a:r>
          </a:p>
          <a:p>
            <a:pPr algn="l">
              <a:lnSpc>
                <a:spcPct val="150000"/>
              </a:lnSpc>
            </a:pPr>
            <a:r>
              <a:rPr lang="en-IN" sz="2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Patient-Independent Split</a:t>
            </a:r>
            <a:endParaRPr lang="en-IN" sz="22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– 11 patients:</a:t>
            </a:r>
            <a:b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chb04, chb08, chb09, chb11, chb14, chb17, chb18, chb20, chb21, chb22, chb23</a:t>
            </a:r>
          </a:p>
          <a:p>
            <a:pPr algn="l"/>
            <a:r>
              <a:rPr lang="en-IN" sz="2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 – 3 patients:</a:t>
            </a:r>
            <a:b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chb05, chb07, chb16</a:t>
            </a:r>
          </a:p>
          <a:p>
            <a:pPr algn="l"/>
            <a:r>
              <a:rPr lang="en-IN" sz="2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– 7 patients:</a:t>
            </a:r>
            <a:b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chb01, chb02, chb03, chb06, chb10, chb13, chb19</a:t>
            </a:r>
          </a:p>
          <a:p>
            <a:endParaRPr lang="en-IN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D46BF-1020-C28A-8DF2-69B288B7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660"/>
            <a:ext cx="10515600" cy="670400"/>
          </a:xfrm>
        </p:spPr>
        <p:txBody>
          <a:bodyPr>
            <a:normAutofit/>
          </a:bodyPr>
          <a:lstStyle/>
          <a:p>
            <a:r>
              <a:rPr lang="en-IN" sz="4000" b="1" i="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Architecture &amp; Training</a:t>
            </a:r>
            <a:endParaRPr lang="en-IN" sz="4000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675FFB-AB6F-D754-5886-7B06CA169D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952A4-AFCF-A3AC-ABA5-3CB3519F65FE}"/>
              </a:ext>
            </a:extLst>
          </p:cNvPr>
          <p:cNvSpPr txBox="1"/>
          <p:nvPr/>
        </p:nvSpPr>
        <p:spPr>
          <a:xfrm>
            <a:off x="696686" y="1045029"/>
            <a:ext cx="1035231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1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CNN:</a:t>
            </a:r>
            <a:endParaRPr lang="en-IN" sz="21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Conv2D – 64 filters, kernel 1×7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Conv2D – 128 filters, kernel 1×5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Conv2D – 256 filters, kernel 1×3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 Normalization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1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activation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 Pooling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Dropout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1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1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Bi-LSTM:</a:t>
            </a:r>
            <a:endParaRPr lang="en-IN" sz="21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Bi-LSTM Layer 1 – 128 hidden units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Bi-LSTM Layer 2 – 64 hidden units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temporal learning</a:t>
            </a: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56;p6">
            <a:extLst>
              <a:ext uri="{FF2B5EF4-FFF2-40B4-BE49-F238E27FC236}">
                <a16:creationId xmlns:a16="http://schemas.microsoft.com/office/drawing/2014/main" id="{440B5189-724C-6232-A00A-983DC15CB302}"/>
              </a:ext>
            </a:extLst>
          </p:cNvPr>
          <p:cNvPicPr/>
          <p:nvPr/>
        </p:nvPicPr>
        <p:blipFill>
          <a:blip r:embed="rId2"/>
          <a:stretch/>
        </p:blipFill>
        <p:spPr bwMode="auto">
          <a:xfrm>
            <a:off x="11221625" y="186825"/>
            <a:ext cx="753674" cy="6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B13A2A-10B5-C4B0-40EE-337779FE13DD}"/>
              </a:ext>
            </a:extLst>
          </p:cNvPr>
          <p:cNvSpPr txBox="1"/>
          <p:nvPr/>
        </p:nvSpPr>
        <p:spPr>
          <a:xfrm>
            <a:off x="6090557" y="1045029"/>
            <a:ext cx="504008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Classifier:</a:t>
            </a:r>
            <a:endParaRPr lang="en-IN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 – 64 units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output</a:t>
            </a:r>
            <a:endParaRPr lang="en-IN" sz="2400" b="1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Configuration:</a:t>
            </a:r>
            <a:endParaRPr lang="en-IN" sz="21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Optimizer: </a:t>
            </a:r>
            <a:r>
              <a:rPr lang="en-IN" sz="21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endParaRPr lang="en-IN" sz="21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 1 × 10⁻⁴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decay: 1 × 10⁻⁴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size: 64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Seed: 42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clipping: 5.0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Hard-negative mining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GPU-based training</a:t>
            </a:r>
          </a:p>
          <a:p>
            <a:r>
              <a:rPr lang="en-IN" sz="21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Model Parameters: 6,476,673</a:t>
            </a:r>
            <a:endParaRPr lang="en-IN" sz="21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15345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" name="Google Shape;208;g3decbf9a5ba_0_0"/>
          <p:cNvSpPr txBox="1">
            <a:spLocks noGrp="1"/>
          </p:cNvSpPr>
          <p:nvPr>
            <p:ph type="title"/>
          </p:nvPr>
        </p:nvSpPr>
        <p:spPr bwMode="auto">
          <a:xfrm>
            <a:off x="838200" y="603600"/>
            <a:ext cx="10515600" cy="44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0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</a:t>
            </a:r>
          </a:p>
        </p:txBody>
      </p:sp>
      <p:sp>
        <p:nvSpPr>
          <p:cNvPr id="209" name="Google Shape;209;g3decbf9a5ba_0_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pic>
        <p:nvPicPr>
          <p:cNvPr id="211" name="Google Shape;211;g3decbf9a5ba_0_0"/>
          <p:cNvPicPr/>
          <p:nvPr/>
        </p:nvPicPr>
        <p:blipFill>
          <a:blip r:embed="rId3"/>
          <a:stretch/>
        </p:blipFill>
        <p:spPr bwMode="auto">
          <a:xfrm>
            <a:off x="11295600" y="294000"/>
            <a:ext cx="753674" cy="6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decbf9a5ba_0_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Department of CSE</a:t>
            </a:r>
          </a:p>
        </p:txBody>
      </p:sp>
      <p:graphicFrame>
        <p:nvGraphicFramePr>
          <p:cNvPr id="3" name="Table 0"/>
          <p:cNvGraphicFramePr>
            <a:graphicFrameLocks/>
          </p:cNvGraphicFramePr>
          <p:nvPr/>
        </p:nvGraphicFramePr>
        <p:xfrm>
          <a:off x="853440" y="3261360"/>
          <a:ext cx="10485120" cy="167640"/>
        </p:xfrm>
        <a:graphic>
          <a:graphicData uri="http://schemas.openxmlformats.org/drawingml/2006/table">
            <a:tbl>
              <a:tblPr/>
              <a:tblGrid>
                <a:gridCol w="1048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100"/>
                    </a:p>
                  </a:txBody>
                  <a:tcPr marL="0" marR="0" marT="0" marB="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B7E33D2-D70D-A758-3E22-23FE291704AD}"/>
              </a:ext>
            </a:extLst>
          </p:cNvPr>
          <p:cNvSpPr txBox="1"/>
          <p:nvPr/>
        </p:nvSpPr>
        <p:spPr>
          <a:xfrm>
            <a:off x="718457" y="1524000"/>
            <a:ext cx="10485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Held-Out Test Set – Final Run5 Model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439786-1DDE-5813-C800-8DD965000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016288"/>
              </p:ext>
            </p:extLst>
          </p:nvPr>
        </p:nvGraphicFramePr>
        <p:xfrm>
          <a:off x="838200" y="2015174"/>
          <a:ext cx="8501743" cy="3200400"/>
        </p:xfrm>
        <a:graphic>
          <a:graphicData uri="http://schemas.openxmlformats.org/drawingml/2006/table">
            <a:tbl>
              <a:tblPr/>
              <a:tblGrid>
                <a:gridCol w="4230101">
                  <a:extLst>
                    <a:ext uri="{9D8B030D-6E8A-4147-A177-3AD203B41FA5}">
                      <a16:colId xmlns:a16="http://schemas.microsoft.com/office/drawing/2014/main" val="3247266052"/>
                    </a:ext>
                  </a:extLst>
                </a:gridCol>
                <a:gridCol w="4271642">
                  <a:extLst>
                    <a:ext uri="{9D8B030D-6E8A-4147-A177-3AD203B41FA5}">
                      <a16:colId xmlns:a16="http://schemas.microsoft.com/office/drawing/2014/main" val="3578853166"/>
                    </a:ext>
                  </a:extLst>
                </a:gridCol>
              </a:tblGrid>
              <a:tr h="304612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77190"/>
                  </a:ext>
                </a:extLst>
              </a:tr>
              <a:tr h="304612"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ROC-AUC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83.57%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308841"/>
                  </a:ext>
                </a:extLst>
              </a:tr>
              <a:tr h="304612"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PR-AUC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75.39%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324591"/>
                  </a:ext>
                </a:extLst>
              </a:tr>
              <a:tr h="304612"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11.03%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769265"/>
                  </a:ext>
                </a:extLst>
              </a:tr>
              <a:tr h="304612"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140025"/>
                  </a:ext>
                </a:extLst>
              </a:tr>
              <a:tr h="304612"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99.26%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586474"/>
                  </a:ext>
                </a:extLst>
              </a:tr>
              <a:tr h="304612"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19.85%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9703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7C677A-0DE8-94B5-E760-E571852DB8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98DEA9-57C4-2417-FADE-3CAEB2485B9D}"/>
              </a:ext>
            </a:extLst>
          </p:cNvPr>
          <p:cNvSpPr txBox="1"/>
          <p:nvPr/>
        </p:nvSpPr>
        <p:spPr>
          <a:xfrm>
            <a:off x="838200" y="1284514"/>
            <a:ext cx="10199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2E8A424-5095-D32D-A758-8098D7150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194680"/>
              </p:ext>
            </p:extLst>
          </p:nvPr>
        </p:nvGraphicFramePr>
        <p:xfrm>
          <a:off x="1001486" y="1970705"/>
          <a:ext cx="10352314" cy="2036574"/>
        </p:xfrm>
        <a:graphic>
          <a:graphicData uri="http://schemas.openxmlformats.org/drawingml/2006/table">
            <a:tbl>
              <a:tblPr/>
              <a:tblGrid>
                <a:gridCol w="3421742">
                  <a:extLst>
                    <a:ext uri="{9D8B030D-6E8A-4147-A177-3AD203B41FA5}">
                      <a16:colId xmlns:a16="http://schemas.microsoft.com/office/drawing/2014/main" val="2753403956"/>
                    </a:ext>
                  </a:extLst>
                </a:gridCol>
                <a:gridCol w="3465286">
                  <a:extLst>
                    <a:ext uri="{9D8B030D-6E8A-4147-A177-3AD203B41FA5}">
                      <a16:colId xmlns:a16="http://schemas.microsoft.com/office/drawing/2014/main" val="1854219445"/>
                    </a:ext>
                  </a:extLst>
                </a:gridCol>
                <a:gridCol w="3465286">
                  <a:extLst>
                    <a:ext uri="{9D8B030D-6E8A-4147-A177-3AD203B41FA5}">
                      <a16:colId xmlns:a16="http://schemas.microsoft.com/office/drawing/2014/main" val="3033665047"/>
                    </a:ext>
                  </a:extLst>
                </a:gridCol>
              </a:tblGrid>
              <a:tr h="678858">
                <a:tc>
                  <a:txBody>
                    <a:bodyPr/>
                    <a:lstStyle/>
                    <a:p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Predicted Negative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Predicted Positive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596842"/>
                  </a:ext>
                </a:extLst>
              </a:tr>
              <a:tr h="678858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Negative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TN: 3,644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FP: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552286"/>
                  </a:ext>
                </a:extLst>
              </a:tr>
              <a:tr h="678858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Positive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FN: 1,081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TP: 134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970416"/>
                  </a:ext>
                </a:extLst>
              </a:tr>
            </a:tbl>
          </a:graphicData>
        </a:graphic>
      </p:graphicFrame>
      <p:sp>
        <p:nvSpPr>
          <p:cNvPr id="23" name="Rectangle 10">
            <a:extLst>
              <a:ext uri="{FF2B5EF4-FFF2-40B4-BE49-F238E27FC236}">
                <a16:creationId xmlns:a16="http://schemas.microsoft.com/office/drawing/2014/main" id="{220C5D85-CBFB-0E8F-8C14-3451A32FA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1850" y="4277728"/>
            <a:ext cx="10293350" cy="21236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Operating Point: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Threshold: 0.50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Persistence: 1 window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Interpretation: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demonstrates very high specificity and precision, while sensitivity remains a major limitation on the held-out test cohort.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C4F685-20E2-D22F-FB74-7F4BF30A16B8}"/>
              </a:ext>
            </a:extLst>
          </p:cNvPr>
          <p:cNvSpPr txBox="1"/>
          <p:nvPr/>
        </p:nvSpPr>
        <p:spPr>
          <a:xfrm>
            <a:off x="831850" y="413657"/>
            <a:ext cx="6581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</a:t>
            </a:r>
            <a:endParaRPr lang="en-IN" sz="4000" b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Google Shape;156;p6">
            <a:extLst>
              <a:ext uri="{FF2B5EF4-FFF2-40B4-BE49-F238E27FC236}">
                <a16:creationId xmlns:a16="http://schemas.microsoft.com/office/drawing/2014/main" id="{015D9D48-54B5-ACDF-6109-A67D422EB40C}"/>
              </a:ext>
            </a:extLst>
          </p:cNvPr>
          <p:cNvPicPr/>
          <p:nvPr/>
        </p:nvPicPr>
        <p:blipFill>
          <a:blip r:embed="rId2"/>
          <a:stretch/>
        </p:blipFill>
        <p:spPr bwMode="auto">
          <a:xfrm>
            <a:off x="11221625" y="186825"/>
            <a:ext cx="753674" cy="670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8849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8200" y="136525"/>
            <a:ext cx="10515600" cy="670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Results / Demo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039AD9-DCB3-EB6C-A05B-1E364FBEF4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93" t="25956" b="-1"/>
          <a:stretch>
            <a:fillRect/>
          </a:stretch>
        </p:blipFill>
        <p:spPr>
          <a:xfrm>
            <a:off x="1230086" y="3287486"/>
            <a:ext cx="9183916" cy="2700343"/>
          </a:xfrm>
          <a:prstGeom prst="rect">
            <a:avLst/>
          </a:prstGeom>
        </p:spPr>
      </p:pic>
      <p:pic>
        <p:nvPicPr>
          <p:cNvPr id="5" name="Google Shape;156;p6">
            <a:extLst>
              <a:ext uri="{FF2B5EF4-FFF2-40B4-BE49-F238E27FC236}">
                <a16:creationId xmlns:a16="http://schemas.microsoft.com/office/drawing/2014/main" id="{E08AA878-975E-7227-8A20-9B678E30836B}"/>
              </a:ext>
            </a:extLst>
          </p:cNvPr>
          <p:cNvPicPr/>
          <p:nvPr/>
        </p:nvPicPr>
        <p:blipFill>
          <a:blip r:embed="rId4"/>
          <a:stretch/>
        </p:blipFill>
        <p:spPr bwMode="auto">
          <a:xfrm>
            <a:off x="11221625" y="186825"/>
            <a:ext cx="753674" cy="6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D0CF8D-4A3B-4213-7EA1-9F521EF1ACA1}"/>
              </a:ext>
            </a:extLst>
          </p:cNvPr>
          <p:cNvSpPr txBox="1"/>
          <p:nvPr/>
        </p:nvSpPr>
        <p:spPr>
          <a:xfrm>
            <a:off x="1015998" y="1121229"/>
            <a:ext cx="57004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EEG Recording Input</a:t>
            </a:r>
            <a:endParaRPr lang="en-US" sz="18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EDF upload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256 Hz / 23-channel indication</a:t>
            </a:r>
          </a:p>
          <a:p>
            <a:pPr algn="l"/>
            <a:r>
              <a:rPr lang="en-US" sz="18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Recording/Event Result</a:t>
            </a:r>
            <a:endParaRPr lang="en-US" sz="18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Window Probability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Positive Window Count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Detected Event Count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B04BD-DB2E-D556-5D5A-A31C676A4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417629" cy="731586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Results / Demo</a:t>
            </a:r>
            <a:endParaRPr lang="en-IN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EBCD71-522D-108D-2962-5153AF436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90B51E-3127-50C9-AE29-E689BECF20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358"/>
          <a:stretch>
            <a:fillRect/>
          </a:stretch>
        </p:blipFill>
        <p:spPr>
          <a:xfrm>
            <a:off x="825768" y="2764972"/>
            <a:ext cx="10395857" cy="2645228"/>
          </a:xfrm>
          <a:prstGeom prst="rect">
            <a:avLst/>
          </a:prstGeom>
        </p:spPr>
      </p:pic>
      <p:pic>
        <p:nvPicPr>
          <p:cNvPr id="5" name="Google Shape;156;p6">
            <a:extLst>
              <a:ext uri="{FF2B5EF4-FFF2-40B4-BE49-F238E27FC236}">
                <a16:creationId xmlns:a16="http://schemas.microsoft.com/office/drawing/2014/main" id="{379B6D54-A274-9397-8BAE-784970264FA0}"/>
              </a:ext>
            </a:extLst>
          </p:cNvPr>
          <p:cNvPicPr/>
          <p:nvPr/>
        </p:nvPicPr>
        <p:blipFill>
          <a:blip r:embed="rId3"/>
          <a:stretch/>
        </p:blipFill>
        <p:spPr bwMode="auto">
          <a:xfrm>
            <a:off x="11221625" y="197711"/>
            <a:ext cx="753674" cy="6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8F3B47-F79D-BC9D-8CC0-3E5903BB0240}"/>
              </a:ext>
            </a:extLst>
          </p:cNvPr>
          <p:cNvSpPr txBox="1"/>
          <p:nvPr/>
        </p:nvSpPr>
        <p:spPr>
          <a:xfrm>
            <a:off x="751114" y="868111"/>
            <a:ext cx="54210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000" b="1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Full Recording Seizure Probability Timeline</a:t>
            </a:r>
            <a:endParaRPr lang="en-US" sz="20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Window-level probability curve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Detected event regions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032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89EE8-726D-54CB-2D8E-2730CED1F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996"/>
            <a:ext cx="10515600" cy="88503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Results / Demo</a:t>
            </a:r>
            <a:endParaRPr lang="en-IN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51C5C3-4E1F-904E-F654-EF74E950B8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159CF1-A77C-E91F-25EA-225F3EF18792}"/>
              </a:ext>
            </a:extLst>
          </p:cNvPr>
          <p:cNvSpPr txBox="1"/>
          <p:nvPr/>
        </p:nvSpPr>
        <p:spPr>
          <a:xfrm>
            <a:off x="838200" y="1458686"/>
            <a:ext cx="103414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Multichannel EEG Waveform</a:t>
            </a:r>
            <a:endParaRPr lang="en-IN" sz="20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23-channel EEG signal visualization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E547EE-7296-4327-090A-6C90BA61E6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260"/>
          <a:stretch>
            <a:fillRect/>
          </a:stretch>
        </p:blipFill>
        <p:spPr>
          <a:xfrm>
            <a:off x="485095" y="2710542"/>
            <a:ext cx="10341429" cy="2799669"/>
          </a:xfrm>
          <a:prstGeom prst="rect">
            <a:avLst/>
          </a:prstGeom>
        </p:spPr>
      </p:pic>
      <p:pic>
        <p:nvPicPr>
          <p:cNvPr id="5" name="Google Shape;156;p6">
            <a:extLst>
              <a:ext uri="{FF2B5EF4-FFF2-40B4-BE49-F238E27FC236}">
                <a16:creationId xmlns:a16="http://schemas.microsoft.com/office/drawing/2014/main" id="{1BF5F2BC-8AF5-B2C7-07BC-65F5A1D0AE08}"/>
              </a:ext>
            </a:extLst>
          </p:cNvPr>
          <p:cNvPicPr/>
          <p:nvPr/>
        </p:nvPicPr>
        <p:blipFill>
          <a:blip r:embed="rId3"/>
          <a:stretch/>
        </p:blipFill>
        <p:spPr bwMode="auto">
          <a:xfrm>
            <a:off x="11221625" y="186825"/>
            <a:ext cx="753674" cy="670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3131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9721-6B8A-7E05-A556-140097657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338"/>
            <a:ext cx="10515600" cy="72988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Results / Demo</a:t>
            </a:r>
            <a:endParaRPr lang="en-IN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5B00E-3417-C38F-F541-91DB790C2F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2676FBD-CC37-88E2-8659-0A2D2082D7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37" r="2054"/>
          <a:stretch>
            <a:fillRect/>
          </a:stretch>
        </p:blipFill>
        <p:spPr>
          <a:xfrm>
            <a:off x="685802" y="2591904"/>
            <a:ext cx="9862456" cy="3629962"/>
          </a:xfrm>
          <a:prstGeom prst="rect">
            <a:avLst/>
          </a:prstGeom>
        </p:spPr>
      </p:pic>
      <p:pic>
        <p:nvPicPr>
          <p:cNvPr id="4" name="Google Shape;156;p6">
            <a:extLst>
              <a:ext uri="{FF2B5EF4-FFF2-40B4-BE49-F238E27FC236}">
                <a16:creationId xmlns:a16="http://schemas.microsoft.com/office/drawing/2014/main" id="{657C7A7A-6CB8-EF61-75F1-24813EBF7AE0}"/>
              </a:ext>
            </a:extLst>
          </p:cNvPr>
          <p:cNvPicPr/>
          <p:nvPr/>
        </p:nvPicPr>
        <p:blipFill>
          <a:blip r:embed="rId3"/>
          <a:stretch/>
        </p:blipFill>
        <p:spPr bwMode="auto">
          <a:xfrm>
            <a:off x="11221625" y="186825"/>
            <a:ext cx="753674" cy="6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8189A6-3FB8-E3A9-B081-AD4B2F5CDE4D}"/>
              </a:ext>
            </a:extLst>
          </p:cNvPr>
          <p:cNvSpPr txBox="1"/>
          <p:nvPr/>
        </p:nvSpPr>
        <p:spPr>
          <a:xfrm>
            <a:off x="925286" y="1110343"/>
            <a:ext cx="6781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Grad-CAM 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Grad-CAM highlights the EEG features that contributed most to the model's prediction, helping visualize which parts of the signal influenced the result.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34929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533400" y="136525"/>
            <a:ext cx="10515600" cy="7207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State-of-the-Art Comparison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18</a:t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 bwMode="auto">
          <a:xfrm>
            <a:off x="1162049" y="2299334"/>
            <a:ext cx="8311874" cy="518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sz="2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E1AA27-D5BA-6145-EB08-B0F3F25BC44E}"/>
              </a:ext>
            </a:extLst>
          </p:cNvPr>
          <p:cNvSpPr txBox="1"/>
          <p:nvPr/>
        </p:nvSpPr>
        <p:spPr>
          <a:xfrm>
            <a:off x="642257" y="957943"/>
            <a:ext cx="9307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Existing Approaches and Proposed System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A5E0E6C-7DD6-8C8E-5E5C-9DE4ADD78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267510"/>
              </p:ext>
            </p:extLst>
          </p:nvPr>
        </p:nvGraphicFramePr>
        <p:xfrm>
          <a:off x="642257" y="1508619"/>
          <a:ext cx="9546772" cy="2682240"/>
        </p:xfrm>
        <a:graphic>
          <a:graphicData uri="http://schemas.openxmlformats.org/drawingml/2006/table">
            <a:tbl>
              <a:tblPr/>
              <a:tblGrid>
                <a:gridCol w="4773386">
                  <a:extLst>
                    <a:ext uri="{9D8B030D-6E8A-4147-A177-3AD203B41FA5}">
                      <a16:colId xmlns:a16="http://schemas.microsoft.com/office/drawing/2014/main" val="2803305386"/>
                    </a:ext>
                  </a:extLst>
                </a:gridCol>
                <a:gridCol w="4773386">
                  <a:extLst>
                    <a:ext uri="{9D8B030D-6E8A-4147-A177-3AD203B41FA5}">
                      <a16:colId xmlns:a16="http://schemas.microsoft.com/office/drawing/2014/main" val="314362345"/>
                    </a:ext>
                  </a:extLst>
                </a:gridCol>
              </a:tblGrid>
              <a:tr h="390816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Characteristics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409742"/>
                  </a:ext>
                </a:extLst>
              </a:tr>
              <a:tr h="390816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ML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handcrafted EEG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241840"/>
                  </a:ext>
                </a:extLst>
              </a:tr>
              <a:tr h="390816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CNN-based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feature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401054"/>
                  </a:ext>
                </a:extLst>
              </a:tr>
              <a:tr h="390816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CNN-LSTM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extraction with temporal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239198"/>
                  </a:ext>
                </a:extLst>
              </a:tr>
              <a:tr h="390816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deep learning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multiple learning components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138879"/>
                  </a:ext>
                </a:extLst>
              </a:tr>
              <a:tr h="664387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CNN-BiLSTM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feature extraction + bidirectional temporal learning + explainability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05745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726DD5D-342E-466E-E2F7-CDA6C27EC86F}"/>
              </a:ext>
            </a:extLst>
          </p:cNvPr>
          <p:cNvSpPr txBox="1"/>
          <p:nvPr/>
        </p:nvSpPr>
        <p:spPr>
          <a:xfrm>
            <a:off x="642257" y="4463143"/>
            <a:ext cx="9601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Aspects of the Proposed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Patient-independent evaluation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event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EEG analysis interface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56;p6">
            <a:extLst>
              <a:ext uri="{FF2B5EF4-FFF2-40B4-BE49-F238E27FC236}">
                <a16:creationId xmlns:a16="http://schemas.microsoft.com/office/drawing/2014/main" id="{D8CB91BB-DF39-385D-3049-05F96EDFDB9A}"/>
              </a:ext>
            </a:extLst>
          </p:cNvPr>
          <p:cNvPicPr/>
          <p:nvPr/>
        </p:nvPicPr>
        <p:blipFill>
          <a:blip r:embed="rId3"/>
          <a:stretch/>
        </p:blipFill>
        <p:spPr bwMode="auto">
          <a:xfrm>
            <a:off x="11221625" y="186825"/>
            <a:ext cx="753674" cy="6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8200" y="136525"/>
            <a:ext cx="10515600" cy="7852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Contribution to the Work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19</a:t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 bwMode="auto">
          <a:xfrm>
            <a:off x="903214" y="1213827"/>
            <a:ext cx="10004272" cy="5215547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lang="en-IN" sz="220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CNN–</a:t>
            </a:r>
            <a:r>
              <a:rPr lang="en-IN" sz="220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sz="220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EEG seizure detection system </a:t>
            </a:r>
            <a:r>
              <a:rPr lang="en-IN" sz="2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standardized multi-channel EEG preprocessing pipeline.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fixed-length overlapping EEG windows for model inference.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Incorporated hard-negative mining and focal loss during training.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patient-independent train/validation/test partitioning.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Added temporal event detection from window-level predictions.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Grad-CAM-based model explainability.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IN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interactive EEG analysis interface for visualizing predictions and signal information.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56;p6">
            <a:extLst>
              <a:ext uri="{FF2B5EF4-FFF2-40B4-BE49-F238E27FC236}">
                <a16:creationId xmlns:a16="http://schemas.microsoft.com/office/drawing/2014/main" id="{4ED6CC55-6AC0-362C-10D2-629AA5903D83}"/>
              </a:ext>
            </a:extLst>
          </p:cNvPr>
          <p:cNvPicPr/>
          <p:nvPr/>
        </p:nvPicPr>
        <p:blipFill>
          <a:blip r:embed="rId3"/>
          <a:stretch/>
        </p:blipFill>
        <p:spPr bwMode="auto">
          <a:xfrm>
            <a:off x="11221625" y="186825"/>
            <a:ext cx="753674" cy="6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DCC11-A8AA-8A95-4DBE-40FAA306A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7085"/>
            <a:ext cx="10515600" cy="1306286"/>
          </a:xfrm>
        </p:spPr>
        <p:txBody>
          <a:bodyPr>
            <a:normAutofit/>
          </a:bodyPr>
          <a:lstStyle/>
          <a:p>
            <a:r>
              <a:rPr lang="en-IN" sz="4000" b="1" i="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Advantages &amp; Limitations</a:t>
            </a:r>
            <a:endParaRPr lang="en-IN" sz="4000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C3FEAE-1F14-698E-3117-342E587411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686F2-C965-17B6-8818-4DCD5F558AD7}"/>
              </a:ext>
            </a:extLst>
          </p:cNvPr>
          <p:cNvSpPr txBox="1"/>
          <p:nvPr/>
        </p:nvSpPr>
        <p:spPr>
          <a:xfrm>
            <a:off x="762000" y="1219200"/>
            <a:ext cx="10668000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sz="21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sz="21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EEG analysis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Learns features directly from EEG signals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Captures temporal dependencies using </a:t>
            </a:r>
            <a:r>
              <a:rPr lang="en-US" sz="21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endParaRPr lang="en-US" sz="21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Patient-independent evaluation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window-level probabilities</a:t>
            </a: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temporal event visualization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model explainability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analysis interface</a:t>
            </a:r>
          </a:p>
          <a:p>
            <a:pPr lvl="2"/>
            <a:r>
              <a:rPr lang="en-US" sz="21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21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Sensitivity on the held-out test cohort is currently low.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negatives remain significant.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is based on the CHB-MIT dataset.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External clinical validation has not been performed.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Grad-CAM provides model attribution, not clinical interpretation.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research prototype and is not clinically approved or validated.</a:t>
            </a:r>
          </a:p>
          <a:p>
            <a:pPr lvl="2"/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56;p6">
            <a:extLst>
              <a:ext uri="{FF2B5EF4-FFF2-40B4-BE49-F238E27FC236}">
                <a16:creationId xmlns:a16="http://schemas.microsoft.com/office/drawing/2014/main" id="{7F59FA50-908F-DB38-83C7-A1F82AC8CD6B}"/>
              </a:ext>
            </a:extLst>
          </p:cNvPr>
          <p:cNvPicPr/>
          <p:nvPr/>
        </p:nvPicPr>
        <p:blipFill>
          <a:blip r:embed="rId2"/>
          <a:stretch/>
        </p:blipFill>
        <p:spPr bwMode="auto">
          <a:xfrm>
            <a:off x="11221625" y="186825"/>
            <a:ext cx="753674" cy="670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2018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8200" y="0"/>
            <a:ext cx="10515600" cy="117565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IN" sz="40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Future Scope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21</a:t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 bwMode="auto">
          <a:xfrm>
            <a:off x="936171" y="1393371"/>
            <a:ext cx="99822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 on larger and more diverse EEG datasets.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 performance using external hospital EEG recordings.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sensitivity while maintaining high specificity.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 patient-adaptive and cross-dataset approaches.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Investigate additional explainability techniques.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inference for real-time deployment.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more comprehensive clinician-oriented interface.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prospective clinical validation before considering clinical use.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  <p:pic>
        <p:nvPicPr>
          <p:cNvPr id="4" name="Google Shape;156;p6">
            <a:extLst>
              <a:ext uri="{FF2B5EF4-FFF2-40B4-BE49-F238E27FC236}">
                <a16:creationId xmlns:a16="http://schemas.microsoft.com/office/drawing/2014/main" id="{F9CABB9F-F5D3-B67F-C2E9-A68486787FA4}"/>
              </a:ext>
            </a:extLst>
          </p:cNvPr>
          <p:cNvPicPr/>
          <p:nvPr/>
        </p:nvPicPr>
        <p:blipFill>
          <a:blip r:embed="rId3"/>
          <a:stretch/>
        </p:blipFill>
        <p:spPr bwMode="auto">
          <a:xfrm>
            <a:off x="11221625" y="186825"/>
            <a:ext cx="753674" cy="6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8200" y="136525"/>
            <a:ext cx="10515600" cy="94116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IN" sz="40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IN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22</a:t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 bwMode="auto">
          <a:xfrm>
            <a:off x="1417954" y="2012949"/>
            <a:ext cx="8313314" cy="30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5" name="Google Shape;156;p6">
            <a:extLst>
              <a:ext uri="{FF2B5EF4-FFF2-40B4-BE49-F238E27FC236}">
                <a16:creationId xmlns:a16="http://schemas.microsoft.com/office/drawing/2014/main" id="{1E3BC3DC-2293-D5EB-0E35-F7C885A03F40}"/>
              </a:ext>
            </a:extLst>
          </p:cNvPr>
          <p:cNvPicPr/>
          <p:nvPr/>
        </p:nvPicPr>
        <p:blipFill>
          <a:blip r:embed="rId3"/>
          <a:stretch/>
        </p:blipFill>
        <p:spPr bwMode="auto">
          <a:xfrm>
            <a:off x="11221625" y="186825"/>
            <a:ext cx="753674" cy="6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081CE0-9E22-216C-AD30-438BB848AF74}"/>
              </a:ext>
            </a:extLst>
          </p:cNvPr>
          <p:cNvSpPr txBox="1"/>
          <p:nvPr/>
        </p:nvSpPr>
        <p:spPr>
          <a:xfrm>
            <a:off x="892629" y="1556657"/>
            <a:ext cx="999308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CNN–</a:t>
            </a:r>
            <a:r>
              <a:rPr lang="en-US" sz="24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EEG seizure detection system was developed using the CHB-MIT dataset.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performs EEG preprocessing, segmentation, deep feature extraction, temporal learning, seizure classification, and event detection.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Grad-CAM provides visualization of model feature contributions.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final Run5 model achieved 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83.57% ROC-AUC and 99.97% specificity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the held-out test cohort.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sensitivity remains a key limitation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 need for further research before clinical application.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system serves as an 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academic research prototype for EEG signal analysis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78066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References</a:t>
            </a:r>
            <a:b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23</a:t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 bwMode="auto">
          <a:xfrm>
            <a:off x="903214" y="1190624"/>
            <a:ext cx="10450586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IN" sz="2000" b="1" dirty="0">
                <a:latin typeface="Times New Roman"/>
                <a:cs typeface="Times New Roman"/>
              </a:rPr>
              <a:t>Base Paper:</a:t>
            </a:r>
            <a:endParaRPr sz="2000" dirty="0"/>
          </a:p>
          <a:p>
            <a:pPr marL="4572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IN" sz="2000" b="0" i="1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Optimized Hybrid GNN-CNN-LSTM Model for Reliable Epileptic Seizure Detection Using    EEG Signals</a:t>
            </a:r>
            <a:r>
              <a:rPr lang="en-IN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-  </a:t>
            </a:r>
            <a:r>
              <a:rPr lang="en-IN" sz="2000" b="0" i="0" u="none" strike="noStrike" cap="none" spc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Dhondiyal</a:t>
            </a:r>
            <a:r>
              <a:rPr lang="en-IN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S. et al., IEEE ICCES, 2025. </a:t>
            </a:r>
            <a:endParaRPr sz="2000" dirty="0"/>
          </a:p>
          <a:p>
            <a:pPr marL="4572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IN" sz="20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 Paper Link : </a:t>
            </a:r>
            <a:r>
              <a:rPr lang="en-IN" sz="2000" b="0" i="0" u="sng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3" tooltip="https://ieeexplore.ieee.org/document/11336261"/>
              </a:rPr>
              <a:t>Optimized Hybrid GNN-CNN-LSTM Model for Reliable Epileptic Seizure Detection Using EEG Signals | IEEE Conference Publication | IEEE Xplore</a:t>
            </a:r>
            <a:endParaRPr lang="en-IN" sz="2000" b="0" i="0" u="sng" strike="noStrike" cap="none" spc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sz="2000" dirty="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defRPr/>
            </a:pPr>
            <a:r>
              <a:rPr lang="en-IN" sz="20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Dataset Source: CHB-MIT Scalp EEG Database – PhysioNet</a:t>
            </a:r>
            <a:r>
              <a:rPr lang="en-IN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000" dirty="0"/>
          </a:p>
          <a:p>
            <a:pPr algn="l">
              <a:lnSpc>
                <a:spcPct val="100000"/>
              </a:lnSpc>
              <a:defRPr/>
            </a:pPr>
            <a:r>
              <a:rPr lang="en-IN" sz="20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Dataset Source Link: </a:t>
            </a:r>
            <a:r>
              <a:rPr lang="en-IN" sz="2000" b="0" i="0" u="sng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4" tooltip="https://physionet.org/content/chbmit/1.0.0/?utm_source=chatgpt.com"/>
              </a:rPr>
              <a:t>CHB-MIT Scalp EEG Database</a:t>
            </a:r>
            <a:endParaRPr lang="en-IN" sz="2000" b="0" i="0" u="sng" strike="noStrike" cap="none" spc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0000"/>
              </a:lnSpc>
              <a:defRPr/>
            </a:pPr>
            <a:endParaRPr sz="2000" dirty="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defRPr/>
            </a:pPr>
            <a:r>
              <a:rPr lang="en-IN" sz="20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Other References: </a:t>
            </a:r>
            <a:endParaRPr sz="2000" dirty="0"/>
          </a:p>
          <a:p>
            <a:pPr marL="800100" lvl="1" indent="-342900" algn="l">
              <a:lnSpc>
                <a:spcPct val="100000"/>
              </a:lnSpc>
              <a:buFont typeface="Wingdings"/>
              <a:buChar char="§"/>
              <a:defRPr/>
            </a:pPr>
            <a:r>
              <a:rPr lang="en-IN" sz="20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Sharma, K. et al.</a:t>
            </a:r>
            <a:r>
              <a:rPr lang="en-IN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“CNN–LSTM Based Real-Time Epileptic Seizure Detection Using EEG Signals,” 2026. </a:t>
            </a:r>
            <a:endParaRPr sz="2000" dirty="0"/>
          </a:p>
          <a:p>
            <a:pPr marL="800100" lvl="1" indent="-342900" algn="l">
              <a:lnSpc>
                <a:spcPct val="100000"/>
              </a:lnSpc>
              <a:buFont typeface="Wingdings"/>
              <a:buChar char="§"/>
              <a:defRPr/>
            </a:pPr>
            <a:r>
              <a:rPr lang="en-IN" sz="20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Kumar, A. et al.</a:t>
            </a:r>
            <a:r>
              <a:rPr lang="en-IN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“Hybrid CNN–LSTM Model for Epileptic Seizure Detection Using EEG Signals,” 2025. </a:t>
            </a:r>
            <a:endParaRPr sz="2000" dirty="0"/>
          </a:p>
          <a:p>
            <a:pPr marL="800100" lvl="1" indent="-342900" algn="l">
              <a:lnSpc>
                <a:spcPct val="100000"/>
              </a:lnSpc>
              <a:buFont typeface="Wingdings"/>
              <a:buChar char="§"/>
              <a:defRPr/>
            </a:pPr>
            <a:r>
              <a:rPr lang="en-IN" sz="20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Zhang, Y. et al.</a:t>
            </a:r>
            <a:r>
              <a:rPr lang="en-IN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“CNN–</a:t>
            </a:r>
            <a:r>
              <a:rPr lang="en-IN" sz="2000" b="0" i="0" u="none" strike="noStrike" cap="none" spc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BiLSTM</a:t>
            </a:r>
            <a:r>
              <a:rPr lang="en-IN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Model for EEG Signal Classification,” 2026. </a:t>
            </a:r>
            <a:endParaRPr sz="2000" dirty="0"/>
          </a:p>
          <a:p>
            <a:pPr marL="800100" lvl="1" indent="-342900" algn="l">
              <a:lnSpc>
                <a:spcPct val="100000"/>
              </a:lnSpc>
              <a:buFont typeface="Wingdings"/>
              <a:buChar char="§"/>
              <a:defRPr/>
            </a:pPr>
            <a:r>
              <a:rPr lang="en-IN" sz="20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Patel, R. et al.</a:t>
            </a:r>
            <a:r>
              <a:rPr lang="en-IN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“Explainable CNN–LSTM Model for EEG-Based Seizure Detection Using SHAP,” 2024.</a:t>
            </a:r>
            <a:endParaRPr sz="2000" dirty="0"/>
          </a:p>
          <a:p>
            <a:pPr>
              <a:defRPr/>
            </a:pPr>
            <a:endParaRPr dirty="0"/>
          </a:p>
        </p:txBody>
      </p:sp>
      <p:pic>
        <p:nvPicPr>
          <p:cNvPr id="5" name="Google Shape;156;p6">
            <a:extLst>
              <a:ext uri="{FF2B5EF4-FFF2-40B4-BE49-F238E27FC236}">
                <a16:creationId xmlns:a16="http://schemas.microsoft.com/office/drawing/2014/main" id="{FAA76CFB-28D8-8153-350E-3D369B5C6FEA}"/>
              </a:ext>
            </a:extLst>
          </p:cNvPr>
          <p:cNvPicPr/>
          <p:nvPr/>
        </p:nvPicPr>
        <p:blipFill>
          <a:blip r:embed="rId5"/>
          <a:stretch/>
        </p:blipFill>
        <p:spPr bwMode="auto">
          <a:xfrm>
            <a:off x="11221625" y="186825"/>
            <a:ext cx="753674" cy="6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>
            <a:spLocks noGrp="1"/>
          </p:cNvSpPr>
          <p:nvPr>
            <p:ph type="title"/>
          </p:nvPr>
        </p:nvSpPr>
        <p:spPr bwMode="auto">
          <a:xfrm>
            <a:off x="826770" y="2696845"/>
            <a:ext cx="10515600" cy="936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Tahoma"/>
              <a:buNone/>
              <a:defRPr/>
            </a:pPr>
            <a:r>
              <a:rPr lang="en-US" sz="6000" b="1">
                <a:solidFill>
                  <a:srgbClr val="C00000"/>
                </a:solidFill>
                <a:latin typeface="Tahoma"/>
                <a:ea typeface="Tahoma"/>
                <a:cs typeface="Tahoma"/>
              </a:rPr>
              <a:t>Thank You</a:t>
            </a:r>
            <a:endParaRPr sz="6000" b="1">
              <a:solidFill>
                <a:srgbClr val="C0000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20" name="Google Shape;220;p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Department of CSE</a:t>
            </a:r>
          </a:p>
        </p:txBody>
      </p:sp>
      <p:sp>
        <p:nvSpPr>
          <p:cNvPr id="221" name="Google Shape;221;p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24</a:t>
            </a:fld>
            <a:endParaRPr lang="en-US"/>
          </a:p>
        </p:txBody>
      </p:sp>
      <p:pic>
        <p:nvPicPr>
          <p:cNvPr id="222" name="Google Shape;222;p7"/>
          <p:cNvPicPr/>
          <p:nvPr/>
        </p:nvPicPr>
        <p:blipFill>
          <a:blip r:embed="rId3"/>
          <a:stretch/>
        </p:blipFill>
        <p:spPr bwMode="auto">
          <a:xfrm>
            <a:off x="11031300" y="294000"/>
            <a:ext cx="753674" cy="6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1725</Words>
  <Application>Microsoft Office PowerPoint</Application>
  <PresentationFormat>Widescreen</PresentationFormat>
  <Paragraphs>389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Tahoma</vt:lpstr>
      <vt:lpstr>Times New Roman</vt:lpstr>
      <vt:lpstr>Calibri</vt:lpstr>
      <vt:lpstr>Wingdings</vt:lpstr>
      <vt:lpstr>Arial</vt:lpstr>
      <vt:lpstr>Office Theme</vt:lpstr>
      <vt:lpstr>BCS786 - Phase II - Project Review 2</vt:lpstr>
      <vt:lpstr>Contents</vt:lpstr>
      <vt:lpstr>Introduction</vt:lpstr>
      <vt:lpstr> Problem Statement</vt:lpstr>
      <vt:lpstr>Objective</vt:lpstr>
      <vt:lpstr>Literature Survey</vt:lpstr>
      <vt:lpstr>PowerPoint Presentation</vt:lpstr>
      <vt:lpstr>Proposed Method</vt:lpstr>
      <vt:lpstr>System Architecture</vt:lpstr>
      <vt:lpstr>Experimental Setup</vt:lpstr>
      <vt:lpstr>Model Architecture &amp; Training</vt:lpstr>
      <vt:lpstr>Results</vt:lpstr>
      <vt:lpstr>PowerPoint Presentation</vt:lpstr>
      <vt:lpstr>Visual Results / Demo</vt:lpstr>
      <vt:lpstr>Visual Results / Demo</vt:lpstr>
      <vt:lpstr>Visual Results / Demo</vt:lpstr>
      <vt:lpstr>Visual Results / Demo</vt:lpstr>
      <vt:lpstr>State-of-the-Art Comparison</vt:lpstr>
      <vt:lpstr>Contribution to the Work</vt:lpstr>
      <vt:lpstr>Advantages &amp; Limitations</vt:lpstr>
      <vt:lpstr>Future Scope</vt:lpstr>
      <vt:lpstr>Conclusion</vt:lpstr>
      <vt:lpstr>References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BCS605 - Phase I - Project Review I</dc:title>
  <dc:creator>Windows User</dc:creator>
  <cp:lastModifiedBy>jananimgowda97@gmail.com</cp:lastModifiedBy>
  <cp:revision>20</cp:revision>
  <dcterms:created xsi:type="dcterms:W3CDTF">2026-09-27T09:07:43Z</dcterms:created>
  <dcterms:modified xsi:type="dcterms:W3CDTF">2026-10-06T17:36:12Z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952DFEE1B6684C1DAF595F68A4E23B40_13</vt:lpwstr>
  </property>
  <property fmtid="{D5CDD505-2E9C-101B-9397-08002B2CF9AE}" pid="3" name="KSOProductBuildVer">
    <vt:lpwstr>1033-12.1.0.28485</vt:lpwstr>
  </property>
</Properties>
</file>